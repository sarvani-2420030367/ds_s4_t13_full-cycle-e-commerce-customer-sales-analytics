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7"/>
  </p:notesMasterIdLst>
  <p:sldIdLst>
    <p:sldId id="262" r:id="rId3"/>
    <p:sldId id="707" r:id="rId4"/>
    <p:sldId id="257" r:id="rId5"/>
    <p:sldId id="904" r:id="rId6"/>
    <p:sldId id="902" r:id="rId7"/>
    <p:sldId id="905" r:id="rId8"/>
    <p:sldId id="906" r:id="rId9"/>
    <p:sldId id="907" r:id="rId10"/>
    <p:sldId id="913" r:id="rId11"/>
    <p:sldId id="908" r:id="rId12"/>
    <p:sldId id="909" r:id="rId13"/>
    <p:sldId id="910" r:id="rId14"/>
    <p:sldId id="912" r:id="rId15"/>
    <p:sldId id="91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21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21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21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0146856"/>
              </p:ext>
            </p:extLst>
          </p:nvPr>
        </p:nvGraphicFramePr>
        <p:xfrm>
          <a:off x="8193271" y="4898509"/>
          <a:ext cx="3702050" cy="1697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1800" dirty="0">
                          <a:latin typeface="Aptos"/>
                        </a:rPr>
                        <a:t>Team Members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sz="1800" dirty="0">
                          <a:latin typeface="Aptos"/>
                        </a:rPr>
                        <a:t>Dhanya Sri — 2420030023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sz="1800" dirty="0">
                          <a:latin typeface="Aptos"/>
                        </a:rPr>
                        <a:t>Tanvi Bandaru — 2420030507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sz="1800" dirty="0">
                          <a:latin typeface="Aptos"/>
                        </a:rPr>
                        <a:t>Sarvani </a:t>
                      </a:r>
                      <a:r>
                        <a:rPr sz="1800" dirty="0" err="1">
                          <a:latin typeface="Aptos"/>
                        </a:rPr>
                        <a:t>Topella</a:t>
                      </a:r>
                      <a:r>
                        <a:rPr sz="1800" dirty="0">
                          <a:latin typeface="Aptos"/>
                        </a:rPr>
                        <a:t> — 2420030367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727629"/>
              </p:ext>
            </p:extLst>
          </p:nvPr>
        </p:nvGraphicFramePr>
        <p:xfrm>
          <a:off x="-451552" y="4090469"/>
          <a:ext cx="5902325" cy="2520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en-IN" sz="180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sz="1800" dirty="0">
                          <a:latin typeface="Aptos"/>
                        </a:rPr>
                        <a:t>Under the Guidance of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1800" dirty="0">
                          <a:latin typeface="Aptos"/>
                        </a:rPr>
                        <a:t>Ms. B Pratusha</a:t>
                      </a:r>
                      <a:endParaRPr sz="1800" dirty="0">
                        <a:latin typeface="Apto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sz="1800" dirty="0" err="1">
                          <a:latin typeface="Aptos"/>
                        </a:rPr>
                        <a:t>Assisstant</a:t>
                      </a:r>
                      <a:r>
                        <a:rPr lang="en-IN" sz="1800" dirty="0">
                          <a:latin typeface="Aptos"/>
                        </a:rPr>
                        <a:t> Professor</a:t>
                      </a:r>
                      <a:endParaRPr sz="1800" dirty="0">
                        <a:latin typeface="Aptos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sz="1800" dirty="0">
                          <a:latin typeface="Aptos"/>
                        </a:rPr>
                        <a:t>Department of Computer Science and Engineering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sz="1800" dirty="0">
                          <a:latin typeface="Aptos"/>
                        </a:rPr>
                        <a:t>KLH CSE, </a:t>
                      </a:r>
                      <a:r>
                        <a:rPr sz="1800" dirty="0" err="1">
                          <a:latin typeface="Aptos"/>
                        </a:rPr>
                        <a:t>Bowrampet</a:t>
                      </a:r>
                      <a:r>
                        <a:rPr sz="1800" dirty="0">
                          <a:latin typeface="Aptos"/>
                        </a:rPr>
                        <a:t> Campus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07935" y="4077805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5232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lvl="0" algn="ctr">
              <a:defRPr/>
            </a:pPr>
            <a:r>
              <a:rPr sz="2500" b="1" dirty="0" err="1">
                <a:solidFill>
                  <a:srgbClr val="FFFFFF"/>
                </a:solidFill>
                <a:latin typeface="Aptos"/>
              </a:rPr>
              <a:t>RetailIQ</a:t>
            </a:r>
            <a:r>
              <a:rPr sz="2500" b="1" dirty="0">
                <a:solidFill>
                  <a:srgbClr val="FFFFFF"/>
                </a:solidFill>
                <a:latin typeface="Aptos"/>
              </a:rPr>
              <a:t>: E-Commerce Customer &amp; Sales Analytics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lvl="0" algn="ctr">
              <a:defRPr/>
            </a:pPr>
            <a:r>
              <a:rPr sz="1800" b="1">
                <a:solidFill>
                  <a:srgbClr val="1C4170"/>
                </a:solidFill>
                <a:latin typeface="Aptos"/>
              </a:rPr>
              <a:t>DATA SCIENCE (24AD3107)  |  PROJECT REVIEW–1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73152" tIns="36576" rIns="73152" bIns="36576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700" b="1">
                <a:solidFill>
                  <a:srgbClr val="0066B3"/>
                </a:solidFill>
                <a:latin typeface="Aptos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r"/>
            <a:r>
              <a:rPr sz="1000" b="0">
                <a:solidFill>
                  <a:srgbClr val="5F6770"/>
                </a:solidFill>
                <a:latin typeface="Apto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2302525" y="458960"/>
            <a:ext cx="6698256" cy="489365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2700" b="1" dirty="0">
                <a:solidFill>
                  <a:srgbClr val="0066B3"/>
                </a:solidFill>
                <a:latin typeface="Aptos"/>
              </a:rPr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42548" y="1274100"/>
            <a:ext cx="10178142" cy="586013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ctr">
              <a:lnSpc>
                <a:spcPct val="150000"/>
              </a:lnSpc>
            </a:pPr>
            <a:r>
              <a:rPr sz="1800" b="0" dirty="0">
                <a:solidFill>
                  <a:srgbClr val="282D34"/>
                </a:solidFill>
                <a:latin typeface="Aptos"/>
              </a:rPr>
              <a:t>E-commerce stores collect lots of order data, but it can be hard to turn it into clear business decisions.</a:t>
            </a:r>
            <a:endParaRPr lang="en-GB" dirty="0">
              <a:solidFill>
                <a:srgbClr val="282D34"/>
              </a:solidFill>
              <a:latin typeface="Aptos"/>
            </a:endParaRPr>
          </a:p>
          <a:p>
            <a:pPr>
              <a:lnSpc>
                <a:spcPct val="150000"/>
              </a:lnSpc>
            </a:pPr>
            <a:r>
              <a:rPr lang="en-GB" b="1" dirty="0"/>
              <a:t>Customer patterns</a:t>
            </a:r>
            <a:endParaRPr lang="en-GB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Identify frequent and high-value customers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Understand customers who may stop buying</a:t>
            </a:r>
          </a:p>
          <a:p>
            <a:pPr>
              <a:lnSpc>
                <a:spcPct val="150000"/>
              </a:lnSpc>
            </a:pPr>
            <a:r>
              <a:rPr lang="en-GB" b="1" dirty="0"/>
              <a:t>Product performance</a:t>
            </a:r>
            <a:endParaRPr lang="en-GB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Identify top-performing products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Compare sales across categories </a:t>
            </a:r>
          </a:p>
          <a:p>
            <a:pPr>
              <a:lnSpc>
                <a:spcPct val="150000"/>
              </a:lnSpc>
            </a:pPr>
            <a:r>
              <a:rPr lang="en-GB" b="1" dirty="0"/>
              <a:t>Product combinations</a:t>
            </a:r>
            <a:endParaRPr lang="en-GB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Find products commonly purchased together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Identify useful product associations </a:t>
            </a:r>
          </a:p>
          <a:p>
            <a:pPr>
              <a:lnSpc>
                <a:spcPct val="150000"/>
              </a:lnSpc>
            </a:pPr>
            <a:r>
              <a:rPr lang="en-GB" b="1" dirty="0"/>
              <a:t>Sales planning</a:t>
            </a:r>
            <a:endParaRPr lang="en-GB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 err="1"/>
              <a:t>Analyze</a:t>
            </a:r>
            <a:r>
              <a:rPr lang="en-GB" dirty="0"/>
              <a:t> historical sales trends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Support future sales planning</a:t>
            </a:r>
          </a:p>
          <a:p>
            <a:pPr algn="ctr">
              <a:lnSpc>
                <a:spcPct val="150000"/>
              </a:lnSpc>
            </a:pPr>
            <a:endParaRPr lang="en-GB" sz="1800" b="0" dirty="0">
              <a:solidFill>
                <a:srgbClr val="282D34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r"/>
            <a:r>
              <a:rPr sz="1000" b="0">
                <a:solidFill>
                  <a:srgbClr val="5F6770"/>
                </a:solidFill>
                <a:latin typeface="Apto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432F0-FFBD-2ED2-7D20-04BF09FB6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2534" y="1277956"/>
            <a:ext cx="8747393" cy="543131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1800" b="1" dirty="0"/>
              <a:t>1. Prepare the data</a:t>
            </a:r>
            <a:br>
              <a:rPr lang="en-GB" sz="1800" dirty="0"/>
            </a:br>
            <a:r>
              <a:rPr lang="en-GB" sz="1800" dirty="0"/>
              <a:t>Clean missing, duplicate and inconsistent records.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800" b="1" dirty="0"/>
              <a:t>2. Explore sales</a:t>
            </a:r>
            <a:br>
              <a:rPr lang="en-GB" sz="1800" dirty="0"/>
            </a:br>
            <a:r>
              <a:rPr lang="en-GB" sz="1800" dirty="0" err="1"/>
              <a:t>Analyze</a:t>
            </a:r>
            <a:r>
              <a:rPr lang="en-GB" sz="1800" dirty="0"/>
              <a:t> sales trends across time, regions and categories.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800" b="1" dirty="0"/>
              <a:t>3. Group customers</a:t>
            </a:r>
            <a:br>
              <a:rPr lang="en-GB" sz="1800" dirty="0"/>
            </a:br>
            <a:r>
              <a:rPr lang="en-GB" sz="1800" dirty="0"/>
              <a:t>Use RFM to segment customers by buying </a:t>
            </a:r>
            <a:r>
              <a:rPr lang="en-GB" sz="1800" dirty="0" err="1"/>
              <a:t>behavior</a:t>
            </a:r>
            <a:r>
              <a:rPr lang="en-GB" sz="18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800" b="1" dirty="0"/>
              <a:t>4. Find product links</a:t>
            </a:r>
            <a:br>
              <a:rPr lang="en-GB" sz="1800" dirty="0"/>
            </a:br>
            <a:r>
              <a:rPr lang="en-GB" sz="1800" dirty="0"/>
              <a:t>Identify products that are frequently purchased together.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800" b="1" dirty="0"/>
              <a:t>5. Explore forecasting</a:t>
            </a:r>
            <a:br>
              <a:rPr lang="en-GB" sz="1800" dirty="0"/>
            </a:br>
            <a:r>
              <a:rPr lang="en-GB" sz="1800" dirty="0"/>
              <a:t>Use past sales to build and test a simple forecast.</a:t>
            </a:r>
          </a:p>
          <a:p>
            <a:pPr>
              <a:lnSpc>
                <a:spcPct val="150000"/>
              </a:lnSpc>
            </a:pPr>
            <a:endParaRPr lang="en-GB" sz="18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1A30DFA-99E2-9EB8-D307-CE1DBDCE33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082" y="451326"/>
            <a:ext cx="10515600" cy="459421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lang="en-GB" sz="2700" b="1" dirty="0">
                <a:solidFill>
                  <a:srgbClr val="0066B3"/>
                </a:solidFill>
                <a:latin typeface="Aptos"/>
              </a:rPr>
              <a:t>                                                          Objectives</a:t>
            </a:r>
            <a:endParaRPr sz="2700" b="1" dirty="0">
              <a:solidFill>
                <a:srgbClr val="0066B3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330851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173318"/>
              </p:ext>
            </p:extLst>
          </p:nvPr>
        </p:nvGraphicFramePr>
        <p:xfrm>
          <a:off x="373798" y="1366093"/>
          <a:ext cx="11381200" cy="495489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04209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56104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chemeClr val="tx1"/>
                          </a:solidFill>
                          <a:latin typeface="Aptos"/>
                        </a:rPr>
                        <a:t>Area</a:t>
                      </a:r>
                    </a:p>
                  </a:txBody>
                  <a:tcPr marL="36576" marR="36576" marT="27432" marB="27432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chemeClr val="tx1"/>
                          </a:solidFill>
                          <a:latin typeface="Aptos"/>
                        </a:rPr>
                        <a:t>Method</a:t>
                      </a:r>
                    </a:p>
                  </a:txBody>
                  <a:tcPr marL="36576" marR="36576" marT="27432" marB="27432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chemeClr val="tx1"/>
                          </a:solidFill>
                          <a:latin typeface="Aptos"/>
                        </a:rPr>
                        <a:t>How it helps our project</a:t>
                      </a:r>
                    </a:p>
                  </a:txBody>
                  <a:tcPr marL="36576" marR="36576" marT="27432" marB="27432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chemeClr val="tx1"/>
                          </a:solidFill>
                          <a:latin typeface="Aptos"/>
                        </a:rPr>
                        <a:t>Point to consider</a:t>
                      </a:r>
                    </a:p>
                  </a:txBody>
                  <a:tcPr marL="36576" marR="36576" marT="27432" marB="27432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 marL="36576" marR="36576" marT="27432" marB="27432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8035">
                <a:tc>
                  <a:txBody>
                    <a:bodyPr/>
                    <a:lstStyle/>
                    <a:p>
                      <a:pPr algn="l"/>
                      <a:endParaRPr lang="en-GB" sz="1600" b="1" dirty="0">
                        <a:solidFill>
                          <a:srgbClr val="0066B3"/>
                        </a:solidFill>
                        <a:latin typeface="Aptos"/>
                      </a:endParaRPr>
                    </a:p>
                    <a:p>
                      <a:pPr algn="l"/>
                      <a:r>
                        <a:rPr sz="1600" b="1" dirty="0">
                          <a:solidFill>
                            <a:srgbClr val="0066B3"/>
                          </a:solidFill>
                          <a:latin typeface="Aptos"/>
                        </a:rPr>
                        <a:t>Customer analytics</a:t>
                      </a: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0" dirty="0">
                          <a:solidFill>
                            <a:srgbClr val="282D34"/>
                          </a:solidFill>
                          <a:latin typeface="Aptos"/>
                        </a:rPr>
                        <a:t>  </a:t>
                      </a:r>
                    </a:p>
                    <a:p>
                      <a:pPr algn="l"/>
                      <a:endParaRPr lang="en-GB" sz="1600" b="0" dirty="0">
                        <a:solidFill>
                          <a:srgbClr val="282D34"/>
                        </a:solidFill>
                        <a:latin typeface="Aptos"/>
                      </a:endParaRPr>
                    </a:p>
                    <a:p>
                      <a:pPr algn="l"/>
                      <a:r>
                        <a:rPr sz="1800" b="0" dirty="0">
                          <a:solidFill>
                            <a:srgbClr val="282D34"/>
                          </a:solidFill>
                          <a:latin typeface="Aptos"/>
                        </a:rPr>
                        <a:t>RFM segmentation</a:t>
                      </a: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600" b="0" dirty="0">
                          <a:solidFill>
                            <a:srgbClr val="282D34"/>
                          </a:solidFill>
                          <a:latin typeface="Aptos"/>
                        </a:rPr>
                        <a:t> </a:t>
                      </a:r>
                    </a:p>
                    <a:p>
                      <a:pPr algn="l"/>
                      <a:r>
                        <a:rPr sz="1800" b="0" dirty="0">
                          <a:solidFill>
                            <a:srgbClr val="282D34"/>
                          </a:solidFill>
                          <a:latin typeface="Aptos"/>
                        </a:rPr>
                        <a:t>Groups customers by recency, frequency and spend.</a:t>
                      </a: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l"/>
                      <a:endParaRPr lang="en-GB" sz="1600" b="0" dirty="0">
                        <a:solidFill>
                          <a:srgbClr val="282D34"/>
                        </a:solidFill>
                        <a:latin typeface="Aptos"/>
                      </a:endParaRPr>
                    </a:p>
                    <a:p>
                      <a:pPr algn="l"/>
                      <a:r>
                        <a:rPr sz="1800" b="0" dirty="0">
                          <a:solidFill>
                            <a:srgbClr val="282D34"/>
                          </a:solidFill>
                          <a:latin typeface="Aptos"/>
                        </a:rPr>
                        <a:t>Segment cut-offs depend on the data.</a:t>
                      </a: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 </a:t>
                      </a:r>
                    </a:p>
                    <a:p>
                      <a:r>
                        <a:rPr dirty="0"/>
                        <a:t>Depends on chosen RFM cut-offs.</a:t>
                      </a: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465378">
                <a:tc>
                  <a:txBody>
                    <a:bodyPr/>
                    <a:lstStyle/>
                    <a:p>
                      <a:pPr algn="l"/>
                      <a:endParaRPr lang="en-GB" sz="1600" b="1" dirty="0">
                        <a:solidFill>
                          <a:srgbClr val="0066B3"/>
                        </a:solidFill>
                        <a:latin typeface="Aptos"/>
                      </a:endParaRPr>
                    </a:p>
                    <a:p>
                      <a:pPr algn="l"/>
                      <a:r>
                        <a:rPr sz="1600" b="1" dirty="0">
                          <a:solidFill>
                            <a:srgbClr val="0066B3"/>
                          </a:solidFill>
                          <a:latin typeface="Aptos"/>
                        </a:rPr>
                        <a:t>Market basket</a:t>
                      </a: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b="0" dirty="0">
                          <a:solidFill>
                            <a:srgbClr val="282D34"/>
                          </a:solidFill>
                          <a:latin typeface="Aptos"/>
                        </a:rPr>
                        <a:t> </a:t>
                      </a:r>
                    </a:p>
                    <a:p>
                      <a:pPr algn="l"/>
                      <a:r>
                        <a:rPr sz="1800" b="0" dirty="0" err="1">
                          <a:solidFill>
                            <a:srgbClr val="282D34"/>
                          </a:solidFill>
                          <a:latin typeface="Aptos"/>
                        </a:rPr>
                        <a:t>Apriori</a:t>
                      </a:r>
                      <a:r>
                        <a:rPr sz="1800" b="0" dirty="0">
                          <a:solidFill>
                            <a:srgbClr val="282D34"/>
                          </a:solidFill>
                          <a:latin typeface="Aptos"/>
                        </a:rPr>
                        <a:t> / FP-Growth</a:t>
                      </a: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l"/>
                      <a:endParaRPr lang="en-GB" sz="1800" b="0" dirty="0">
                        <a:solidFill>
                          <a:srgbClr val="282D34"/>
                        </a:solidFill>
                        <a:latin typeface="Aptos"/>
                      </a:endParaRPr>
                    </a:p>
                    <a:p>
                      <a:pPr algn="l"/>
                      <a:r>
                        <a:rPr sz="1800" b="0" dirty="0">
                          <a:solidFill>
                            <a:srgbClr val="282D34"/>
                          </a:solidFill>
                          <a:latin typeface="Aptos"/>
                        </a:rPr>
                        <a:t>Finds products often appearing in the same order.</a:t>
                      </a: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l"/>
                      <a:endParaRPr lang="en-GB" sz="1800" b="0" dirty="0">
                        <a:solidFill>
                          <a:srgbClr val="282D34"/>
                        </a:solidFill>
                        <a:latin typeface="Aptos"/>
                      </a:endParaRPr>
                    </a:p>
                    <a:p>
                      <a:pPr algn="l"/>
                      <a:r>
                        <a:rPr sz="1800" b="0" dirty="0">
                          <a:solidFill>
                            <a:srgbClr val="282D34"/>
                          </a:solidFill>
                          <a:latin typeface="Aptos"/>
                        </a:rPr>
                        <a:t>Results depend on basket setup and thresholds.</a:t>
                      </a: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 </a:t>
                      </a:r>
                    </a:p>
                    <a:p>
                      <a:r>
                        <a:rPr dirty="0"/>
                        <a:t>Depends on basket definition and thresholds.</a:t>
                      </a: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465378">
                <a:tc>
                  <a:txBody>
                    <a:bodyPr/>
                    <a:lstStyle/>
                    <a:p>
                      <a:pPr algn="l"/>
                      <a:r>
                        <a:rPr lang="en-GB" sz="1600" b="1" dirty="0">
                          <a:solidFill>
                            <a:srgbClr val="0066B3"/>
                          </a:solidFill>
                          <a:latin typeface="Aptos"/>
                        </a:rPr>
                        <a:t> </a:t>
                      </a:r>
                    </a:p>
                    <a:p>
                      <a:pPr algn="l"/>
                      <a:r>
                        <a:rPr sz="1600" b="1" dirty="0">
                          <a:solidFill>
                            <a:srgbClr val="0066B3"/>
                          </a:solidFill>
                          <a:latin typeface="Aptos"/>
                        </a:rPr>
                        <a:t>Sales forecasting</a:t>
                      </a: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l"/>
                      <a:endParaRPr lang="en-GB" sz="1800" b="0" dirty="0">
                        <a:solidFill>
                          <a:srgbClr val="282D34"/>
                        </a:solidFill>
                        <a:latin typeface="Aptos"/>
                      </a:endParaRPr>
                    </a:p>
                    <a:p>
                      <a:pPr algn="l"/>
                      <a:r>
                        <a:rPr sz="1800" b="0" dirty="0">
                          <a:solidFill>
                            <a:srgbClr val="282D34"/>
                          </a:solidFill>
                          <a:latin typeface="Aptos"/>
                        </a:rPr>
                        <a:t>Regression / time series</a:t>
                      </a: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l"/>
                      <a:endParaRPr lang="en-GB" sz="1800" b="0" dirty="0">
                        <a:solidFill>
                          <a:srgbClr val="282D34"/>
                        </a:solidFill>
                        <a:latin typeface="Aptos"/>
                      </a:endParaRPr>
                    </a:p>
                    <a:p>
                      <a:pPr algn="l"/>
                      <a:r>
                        <a:rPr sz="1800" b="0" dirty="0">
                          <a:solidFill>
                            <a:srgbClr val="282D34"/>
                          </a:solidFill>
                          <a:latin typeface="Aptos"/>
                        </a:rPr>
                        <a:t>Uses past sales to estimate future trends.</a:t>
                      </a: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pPr algn="l"/>
                      <a:endParaRPr lang="en-GB" sz="1800" b="0" dirty="0">
                        <a:solidFill>
                          <a:srgbClr val="282D34"/>
                        </a:solidFill>
                        <a:latin typeface="Aptos"/>
                      </a:endParaRPr>
                    </a:p>
                    <a:p>
                      <a:pPr algn="l"/>
                      <a:r>
                        <a:rPr sz="1800" b="0" dirty="0">
                          <a:solidFill>
                            <a:srgbClr val="282D34"/>
                          </a:solidFill>
                          <a:latin typeface="Aptos"/>
                        </a:rPr>
                        <a:t>Test on later dates, not training data.</a:t>
                      </a:r>
                    </a:p>
                  </a:txBody>
                  <a:tcPr marL="36576" marR="36576" marT="27432" marB="27432"/>
                </a:tc>
                <a:tc>
                  <a:txBody>
                    <a:bodyPr/>
                    <a:lstStyle/>
                    <a:p>
                      <a:endParaRPr lang="en-GB" dirty="0"/>
                    </a:p>
                    <a:p>
                      <a:r>
                        <a:rPr dirty="0"/>
                        <a:t>Needs testing on unseen dates.</a:t>
                      </a:r>
                    </a:p>
                  </a:txBody>
                  <a:tcPr marL="36576" marR="36576" marT="27432" marB="27432"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3062689" y="609755"/>
            <a:ext cx="5332164" cy="489365"/>
          </a:xfrm>
          <a:prstGeom prst="rect">
            <a:avLst/>
          </a:prstGeom>
          <a:noFill/>
        </p:spPr>
        <p:txBody>
          <a:bodyPr wrap="square" lIns="73152" tIns="36576" rIns="73152" bIns="36576" rtlCol="0">
            <a:spAutoFit/>
          </a:bodyPr>
          <a:lstStyle/>
          <a:p>
            <a:pPr algn="ctr"/>
            <a:r>
              <a:rPr sz="2700" b="1" dirty="0">
                <a:solidFill>
                  <a:srgbClr val="0066B3"/>
                </a:solidFill>
                <a:latin typeface="Aptos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r"/>
            <a:r>
              <a:rPr sz="1000" b="0">
                <a:solidFill>
                  <a:srgbClr val="5F6770"/>
                </a:solidFill>
                <a:latin typeface="Apto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F8E06-5B6B-AD2A-9BC4-4A85764E8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b="1" dirty="0">
                <a:solidFill>
                  <a:srgbClr val="0066B3"/>
                </a:solidFill>
                <a:latin typeface="Aptos"/>
              </a:rPr>
              <a:t>                                   Problem Gap Identification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CFE82-B10F-B2A2-82A3-F9B336D6C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7446"/>
            <a:ext cx="10515600" cy="457951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1800" b="1" dirty="0"/>
              <a:t>Analyses done separately →</a:t>
            </a:r>
            <a:endParaRPr lang="en-GB" sz="1800" dirty="0"/>
          </a:p>
          <a:p>
            <a:pPr lvl="0">
              <a:lnSpc>
                <a:spcPct val="150000"/>
              </a:lnSpc>
            </a:pPr>
            <a:r>
              <a:rPr lang="en-GB" sz="1800" dirty="0"/>
              <a:t>Combine data cleaning, EDA, RFM, basket analysis and forecasting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800" b="1" dirty="0"/>
              <a:t>Customer data viewed alone →</a:t>
            </a:r>
            <a:endParaRPr lang="en-GB" sz="1800" dirty="0"/>
          </a:p>
          <a:p>
            <a:pPr lvl="0">
              <a:lnSpc>
                <a:spcPct val="150000"/>
              </a:lnSpc>
            </a:pPr>
            <a:r>
              <a:rPr lang="en-GB" sz="1800" dirty="0"/>
              <a:t>Connect customer groups with product and sales patterns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800" b="1" dirty="0"/>
              <a:t>Product sales without combinations →</a:t>
            </a:r>
            <a:endParaRPr lang="en-GB" sz="1800" dirty="0"/>
          </a:p>
          <a:p>
            <a:pPr lvl="0">
              <a:lnSpc>
                <a:spcPct val="150000"/>
              </a:lnSpc>
            </a:pPr>
            <a:r>
              <a:rPr lang="en-GB" sz="1800" dirty="0"/>
              <a:t>Combine product performance with co-purchased items </a:t>
            </a:r>
            <a:endParaRPr lang="en-GB" sz="18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GB" sz="1800" b="1" dirty="0"/>
              <a:t>Findings difficult to use →</a:t>
            </a:r>
            <a:endParaRPr lang="en-GB" sz="1800" dirty="0"/>
          </a:p>
          <a:p>
            <a:pPr lvl="0">
              <a:lnSpc>
                <a:spcPct val="150000"/>
              </a:lnSpc>
            </a:pPr>
            <a:r>
              <a:rPr lang="en-GB" sz="1800" dirty="0"/>
              <a:t>Present insights through clear charts and summaries</a:t>
            </a:r>
          </a:p>
          <a:p>
            <a:pPr>
              <a:lnSpc>
                <a:spcPct val="150000"/>
              </a:lnSpc>
            </a:pP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1805004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8F7C-E2E1-4161-3D28-342493474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1395"/>
            <a:ext cx="10515600" cy="758595"/>
          </a:xfrm>
        </p:spPr>
        <p:txBody>
          <a:bodyPr>
            <a:noAutofit/>
          </a:bodyPr>
          <a:lstStyle/>
          <a:p>
            <a:r>
              <a:rPr lang="en-GB" sz="2800" b="1" dirty="0">
                <a:solidFill>
                  <a:srgbClr val="0066B3"/>
                </a:solidFill>
                <a:latin typeface="Aptos"/>
              </a:rPr>
              <a:t>                         Innovation, Creativity, and Novelty</a:t>
            </a:r>
            <a:br>
              <a:rPr lang="en-GB" sz="2800" b="1" dirty="0">
                <a:solidFill>
                  <a:srgbClr val="0066B3"/>
                </a:solidFill>
                <a:latin typeface="Aptos"/>
              </a:rPr>
            </a:b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55845-F495-992C-94D1-85D978083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0159"/>
            <a:ext cx="9969347" cy="5082716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GB" sz="1800" b="1" dirty="0"/>
              <a:t>Connected steps</a:t>
            </a:r>
            <a:endParaRPr lang="en-GB" sz="1800" dirty="0"/>
          </a:p>
          <a:p>
            <a:pPr lvl="0">
              <a:lnSpc>
                <a:spcPct val="100000"/>
              </a:lnSpc>
            </a:pPr>
            <a:r>
              <a:rPr lang="en-GB" sz="1800" dirty="0"/>
              <a:t>Connect raw data to final insights </a:t>
            </a:r>
          </a:p>
          <a:p>
            <a:pPr lvl="0">
              <a:lnSpc>
                <a:spcPct val="100000"/>
              </a:lnSpc>
            </a:pPr>
            <a:r>
              <a:rPr lang="en-GB" sz="1800" dirty="0"/>
              <a:t>Follow a clear analytical workflow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1800" b="1" dirty="0"/>
              <a:t>Combined view</a:t>
            </a:r>
            <a:endParaRPr lang="en-GB" sz="1800" dirty="0"/>
          </a:p>
          <a:p>
            <a:pPr lvl="0">
              <a:lnSpc>
                <a:spcPct val="100000"/>
              </a:lnSpc>
            </a:pPr>
            <a:r>
              <a:rPr lang="en-GB" sz="1800" dirty="0" err="1"/>
              <a:t>Analyze</a:t>
            </a:r>
            <a:r>
              <a:rPr lang="en-GB" sz="1800" dirty="0"/>
              <a:t> customers, products and sales together </a:t>
            </a:r>
          </a:p>
          <a:p>
            <a:pPr lvl="0">
              <a:lnSpc>
                <a:spcPct val="100000"/>
              </a:lnSpc>
            </a:pPr>
            <a:r>
              <a:rPr lang="en-GB" sz="1800" dirty="0"/>
              <a:t>Connect different business perspectives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1800" b="1" dirty="0"/>
              <a:t>Useful takeaways</a:t>
            </a:r>
            <a:endParaRPr lang="en-GB" sz="1800" dirty="0"/>
          </a:p>
          <a:p>
            <a:pPr lvl="0">
              <a:lnSpc>
                <a:spcPct val="100000"/>
              </a:lnSpc>
            </a:pPr>
            <a:r>
              <a:rPr lang="en-GB" sz="1800" dirty="0"/>
              <a:t>Support customer retention analysis </a:t>
            </a:r>
          </a:p>
          <a:p>
            <a:pPr lvl="0">
              <a:lnSpc>
                <a:spcPct val="100000"/>
              </a:lnSpc>
            </a:pPr>
            <a:r>
              <a:rPr lang="en-GB" sz="1800" dirty="0"/>
              <a:t>Support product focus and sales planning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1800" b="1" dirty="0"/>
              <a:t>Easy to understand</a:t>
            </a:r>
            <a:endParaRPr lang="en-GB" sz="1800" dirty="0"/>
          </a:p>
          <a:p>
            <a:pPr lvl="0">
              <a:lnSpc>
                <a:spcPct val="100000"/>
              </a:lnSpc>
            </a:pPr>
            <a:r>
              <a:rPr lang="en-GB" sz="1800" dirty="0"/>
              <a:t>Use simple visualizations </a:t>
            </a:r>
          </a:p>
          <a:p>
            <a:pPr lvl="0">
              <a:lnSpc>
                <a:spcPct val="100000"/>
              </a:lnSpc>
            </a:pPr>
            <a:r>
              <a:rPr lang="en-GB" sz="1800" dirty="0"/>
              <a:t>Present results through a dashboard</a:t>
            </a:r>
          </a:p>
          <a:p>
            <a:pPr>
              <a:lnSpc>
                <a:spcPct val="100000"/>
              </a:lnSpc>
            </a:pP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3293970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E1BE3-6E9D-A811-7F4F-6C29F387F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1590"/>
            <a:ext cx="10515600" cy="1119418"/>
          </a:xfrm>
        </p:spPr>
        <p:txBody>
          <a:bodyPr>
            <a:normAutofit/>
          </a:bodyPr>
          <a:lstStyle/>
          <a:p>
            <a:r>
              <a:rPr lang="en-GB" sz="2800" b="1" dirty="0">
                <a:solidFill>
                  <a:srgbClr val="0070C0"/>
                </a:solidFill>
              </a:rPr>
              <a:t>                                                          Project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4E51F-7B9A-303E-6915-11BD5653F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008"/>
            <a:ext cx="10515600" cy="495759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1800" b="1" dirty="0" err="1"/>
              <a:t>RetailIQ</a:t>
            </a:r>
            <a:r>
              <a:rPr lang="en-GB" sz="1800" dirty="0"/>
              <a:t> is designed as an integrated analytics workflow that converts e-commerce order data into useful customer, product, and sales insights.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800" b="1" dirty="0"/>
              <a:t>Main Components:</a:t>
            </a:r>
          </a:p>
          <a:p>
            <a:pPr lvl="0">
              <a:lnSpc>
                <a:spcPct val="150000"/>
              </a:lnSpc>
            </a:pPr>
            <a:r>
              <a:rPr lang="en-GB" sz="1800" b="1" dirty="0"/>
              <a:t>Data Preparation</a:t>
            </a:r>
            <a:r>
              <a:rPr lang="en-GB" sz="1800" dirty="0"/>
              <a:t> – clean and organize raw records. </a:t>
            </a:r>
          </a:p>
          <a:p>
            <a:pPr lvl="0">
              <a:lnSpc>
                <a:spcPct val="150000"/>
              </a:lnSpc>
            </a:pPr>
            <a:r>
              <a:rPr lang="en-GB" sz="1800" b="1" dirty="0"/>
              <a:t>Exploratory Data Analysis</a:t>
            </a:r>
            <a:r>
              <a:rPr lang="en-GB" sz="1800" dirty="0"/>
              <a:t> – understand sales and customer patterns. </a:t>
            </a:r>
          </a:p>
          <a:p>
            <a:pPr lvl="0">
              <a:lnSpc>
                <a:spcPct val="150000"/>
              </a:lnSpc>
            </a:pPr>
            <a:r>
              <a:rPr lang="en-GB" sz="1800" b="1" dirty="0"/>
              <a:t>RFM Analysis</a:t>
            </a:r>
            <a:r>
              <a:rPr lang="en-GB" sz="1800" dirty="0"/>
              <a:t> – group customers based on buying </a:t>
            </a:r>
            <a:r>
              <a:rPr lang="en-GB" sz="1800" dirty="0" err="1"/>
              <a:t>behavior</a:t>
            </a:r>
            <a:r>
              <a:rPr lang="en-GB" sz="1800" dirty="0"/>
              <a:t>. </a:t>
            </a:r>
          </a:p>
          <a:p>
            <a:pPr lvl="0">
              <a:lnSpc>
                <a:spcPct val="150000"/>
              </a:lnSpc>
            </a:pPr>
            <a:r>
              <a:rPr lang="en-GB" sz="1800" b="1" dirty="0"/>
              <a:t>Market Basket Analysis</a:t>
            </a:r>
            <a:r>
              <a:rPr lang="en-GB" sz="1800" dirty="0"/>
              <a:t> – identify products frequently purchased together. </a:t>
            </a:r>
          </a:p>
          <a:p>
            <a:pPr lvl="0">
              <a:lnSpc>
                <a:spcPct val="150000"/>
              </a:lnSpc>
            </a:pPr>
            <a:r>
              <a:rPr lang="en-GB" sz="1800" b="1" dirty="0"/>
              <a:t>Sales Forecasting</a:t>
            </a:r>
            <a:r>
              <a:rPr lang="en-GB" sz="1800" dirty="0"/>
              <a:t> – explore future sales trends using historical data. </a:t>
            </a:r>
          </a:p>
          <a:p>
            <a:pPr lvl="0">
              <a:lnSpc>
                <a:spcPct val="150000"/>
              </a:lnSpc>
            </a:pPr>
            <a:r>
              <a:rPr lang="en-GB" sz="1800" b="1" dirty="0"/>
              <a:t>Visualization &amp; Dashboard</a:t>
            </a:r>
            <a:r>
              <a:rPr lang="en-GB" sz="1800" dirty="0"/>
              <a:t> – present findings through clear charts and summaries.</a:t>
            </a:r>
          </a:p>
          <a:p>
            <a:pPr>
              <a:lnSpc>
                <a:spcPct val="150000"/>
              </a:lnSpc>
            </a:pP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1403979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6A026-BE40-8D8C-F5E6-38E67B61C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998" y="229346"/>
            <a:ext cx="10515600" cy="799646"/>
          </a:xfrm>
        </p:spPr>
        <p:txBody>
          <a:bodyPr>
            <a:normAutofit/>
          </a:bodyPr>
          <a:lstStyle/>
          <a:p>
            <a:r>
              <a:rPr lang="en-GB" sz="2800" b="1" dirty="0">
                <a:solidFill>
                  <a:srgbClr val="0070C0"/>
                </a:solidFill>
              </a:rPr>
              <a:t>                                                           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A6EAF1-B81E-33C7-1FBA-880E47FFCC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2366" y="1028993"/>
            <a:ext cx="10906699" cy="559966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831DCF2-66D4-170E-292F-DC27A5EEBBB5}"/>
              </a:ext>
            </a:extLst>
          </p:cNvPr>
          <p:cNvSpPr/>
          <p:nvPr/>
        </p:nvSpPr>
        <p:spPr>
          <a:xfrm>
            <a:off x="10373032" y="6272981"/>
            <a:ext cx="1288026" cy="24580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934FFE-DB0C-9966-8A4A-1FE66CE2140E}"/>
              </a:ext>
            </a:extLst>
          </p:cNvPr>
          <p:cNvSpPr/>
          <p:nvPr/>
        </p:nvSpPr>
        <p:spPr>
          <a:xfrm>
            <a:off x="4227871" y="1288026"/>
            <a:ext cx="4237703" cy="27530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5787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31335-EA27-1445-76F3-ECE90EA18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890"/>
            <a:ext cx="10515600" cy="1067068"/>
          </a:xfrm>
        </p:spPr>
        <p:txBody>
          <a:bodyPr>
            <a:normAutofit/>
          </a:bodyPr>
          <a:lstStyle/>
          <a:p>
            <a:r>
              <a:rPr lang="en-GB" sz="2800" b="1" dirty="0">
                <a:solidFill>
                  <a:srgbClr val="0070C0"/>
                </a:solidFill>
              </a:rPr>
              <a:t>                                                       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27ACD-E96D-C69C-8C4F-D33517677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487" y="1292913"/>
            <a:ext cx="10515600" cy="5354197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GB" sz="1800" b="1" dirty="0"/>
              <a:t>Data Preparation</a:t>
            </a:r>
            <a:endParaRPr lang="en-GB" sz="1800" dirty="0"/>
          </a:p>
          <a:p>
            <a:pPr lvl="0">
              <a:lnSpc>
                <a:spcPct val="100000"/>
              </a:lnSpc>
            </a:pPr>
            <a:r>
              <a:rPr lang="en-GB" sz="1800" dirty="0"/>
              <a:t>Clean missing, duplicate and inconsistent records. </a:t>
            </a:r>
          </a:p>
          <a:p>
            <a:pPr lvl="0">
              <a:lnSpc>
                <a:spcPct val="100000"/>
              </a:lnSpc>
            </a:pPr>
            <a:r>
              <a:rPr lang="en-GB" sz="1800" dirty="0"/>
              <a:t>Prepare the dataset for analysis.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1800" b="1" dirty="0"/>
              <a:t>Exploratory Data Analysis</a:t>
            </a:r>
            <a:endParaRPr lang="en-GB" sz="1800" dirty="0"/>
          </a:p>
          <a:p>
            <a:pPr lvl="0">
              <a:lnSpc>
                <a:spcPct val="100000"/>
              </a:lnSpc>
            </a:pPr>
            <a:r>
              <a:rPr lang="en-GB" sz="1800" dirty="0" err="1"/>
              <a:t>Analyze</a:t>
            </a:r>
            <a:r>
              <a:rPr lang="en-GB" sz="1800" dirty="0"/>
              <a:t> sales across time, regions and categories. </a:t>
            </a:r>
          </a:p>
          <a:p>
            <a:pPr lvl="0">
              <a:lnSpc>
                <a:spcPct val="100000"/>
              </a:lnSpc>
            </a:pPr>
            <a:r>
              <a:rPr lang="en-GB" sz="1800" dirty="0"/>
              <a:t>Identify customer and product patterns.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1800" b="1" dirty="0"/>
              <a:t>Customer &amp; Product Analysis</a:t>
            </a:r>
            <a:endParaRPr lang="en-GB" sz="1800" dirty="0"/>
          </a:p>
          <a:p>
            <a:pPr lvl="0">
              <a:lnSpc>
                <a:spcPct val="100000"/>
              </a:lnSpc>
            </a:pPr>
            <a:r>
              <a:rPr lang="en-GB" sz="1800" dirty="0"/>
              <a:t>Use RFM to segment customers by buying </a:t>
            </a:r>
            <a:r>
              <a:rPr lang="en-GB" sz="1800" dirty="0" err="1"/>
              <a:t>behavior</a:t>
            </a:r>
            <a:r>
              <a:rPr lang="en-GB" sz="1800" dirty="0"/>
              <a:t>. </a:t>
            </a:r>
          </a:p>
          <a:p>
            <a:pPr lvl="0">
              <a:lnSpc>
                <a:spcPct val="100000"/>
              </a:lnSpc>
            </a:pPr>
            <a:r>
              <a:rPr lang="en-GB" sz="1800" dirty="0"/>
              <a:t>Use </a:t>
            </a:r>
            <a:r>
              <a:rPr lang="en-GB" sz="1800" dirty="0" err="1"/>
              <a:t>Apriori</a:t>
            </a:r>
            <a:r>
              <a:rPr lang="en-GB" sz="1800" b="1" dirty="0"/>
              <a:t> </a:t>
            </a:r>
            <a:r>
              <a:rPr lang="en-GB" sz="1800" dirty="0"/>
              <a:t>/</a:t>
            </a:r>
            <a:r>
              <a:rPr lang="en-GB" sz="1800" b="1" dirty="0"/>
              <a:t> </a:t>
            </a:r>
            <a:r>
              <a:rPr lang="en-GB" sz="1800" dirty="0"/>
              <a:t>FP-Growth to find products frequently purchased together.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1800" b="1" dirty="0"/>
              <a:t>Sales Forecasting</a:t>
            </a:r>
            <a:endParaRPr lang="en-GB" sz="1800" dirty="0"/>
          </a:p>
          <a:p>
            <a:pPr lvl="0">
              <a:lnSpc>
                <a:spcPct val="100000"/>
              </a:lnSpc>
            </a:pPr>
            <a:r>
              <a:rPr lang="en-GB" sz="1800" dirty="0"/>
              <a:t>Use historical sales data to build and test a simple forecast. </a:t>
            </a:r>
          </a:p>
          <a:p>
            <a:pPr lvl="0">
              <a:lnSpc>
                <a:spcPct val="100000"/>
              </a:lnSpc>
            </a:pPr>
            <a:r>
              <a:rPr lang="en-GB" sz="1800" dirty="0"/>
              <a:t>Test the model on later/unseen dates.</a:t>
            </a:r>
          </a:p>
          <a:p>
            <a:pPr>
              <a:lnSpc>
                <a:spcPct val="100000"/>
              </a:lnSpc>
            </a:pP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3988554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0F90B-A338-C90A-DD61-AE1383C9E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082" y="188856"/>
            <a:ext cx="10515600" cy="989949"/>
          </a:xfrm>
        </p:spPr>
        <p:txBody>
          <a:bodyPr>
            <a:normAutofit/>
          </a:bodyPr>
          <a:lstStyle/>
          <a:p>
            <a:r>
              <a:rPr lang="en-GB" sz="2800" b="1" dirty="0">
                <a:solidFill>
                  <a:srgbClr val="0070C0"/>
                </a:solidFill>
              </a:rPr>
              <a:t>                              Technical Soundness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898C3-2C7C-885A-1D68-9950D32C3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6940"/>
            <a:ext cx="10515600" cy="5288096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1800" b="1" dirty="0"/>
              <a:t>Data Quality</a:t>
            </a:r>
            <a:endParaRPr lang="en-GB" sz="1800" dirty="0"/>
          </a:p>
          <a:p>
            <a:pPr lvl="0">
              <a:lnSpc>
                <a:spcPct val="150000"/>
              </a:lnSpc>
            </a:pPr>
            <a:r>
              <a:rPr lang="en-GB" sz="1800" dirty="0"/>
              <a:t>Handle missing, duplicate and inconsistent records. </a:t>
            </a:r>
          </a:p>
          <a:p>
            <a:pPr lvl="0">
              <a:lnSpc>
                <a:spcPct val="150000"/>
              </a:lnSpc>
            </a:pPr>
            <a:r>
              <a:rPr lang="en-GB" sz="1800" dirty="0"/>
              <a:t>Use cleaned data for reliable analysis.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800" b="1" dirty="0"/>
              <a:t>Analytical Methods</a:t>
            </a:r>
            <a:endParaRPr lang="en-GB" sz="1800" dirty="0"/>
          </a:p>
          <a:p>
            <a:pPr lvl="0">
              <a:lnSpc>
                <a:spcPct val="150000"/>
              </a:lnSpc>
            </a:pPr>
            <a:r>
              <a:rPr lang="en-GB" sz="1800" dirty="0"/>
              <a:t>RFM for customer segmentation. </a:t>
            </a:r>
          </a:p>
          <a:p>
            <a:pPr lvl="0">
              <a:lnSpc>
                <a:spcPct val="150000"/>
              </a:lnSpc>
            </a:pPr>
            <a:r>
              <a:rPr lang="en-GB" sz="1800" dirty="0" err="1"/>
              <a:t>Apriori</a:t>
            </a:r>
            <a:r>
              <a:rPr lang="en-GB" sz="1800" dirty="0"/>
              <a:t> / FP-Growth for product associations. </a:t>
            </a:r>
          </a:p>
          <a:p>
            <a:pPr>
              <a:lnSpc>
                <a:spcPct val="150000"/>
              </a:lnSpc>
            </a:pPr>
            <a:r>
              <a:rPr lang="en-GB" sz="1800" dirty="0"/>
              <a:t>Regression / Time Series for sales forecasting.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800" b="1" dirty="0"/>
              <a:t>Validation</a:t>
            </a:r>
            <a:endParaRPr lang="en-GB" sz="1800" dirty="0"/>
          </a:p>
          <a:p>
            <a:pPr lvl="0">
              <a:lnSpc>
                <a:spcPct val="150000"/>
              </a:lnSpc>
            </a:pPr>
            <a:r>
              <a:rPr lang="en-GB" sz="1800" dirty="0"/>
              <a:t>Test forecasting using later/unseen dates. </a:t>
            </a:r>
          </a:p>
          <a:p>
            <a:pPr lvl="0">
              <a:lnSpc>
                <a:spcPct val="150000"/>
              </a:lnSpc>
            </a:pPr>
            <a:r>
              <a:rPr lang="en-GB" sz="1800" dirty="0"/>
              <a:t>Consider appropriate thresholds for RFM and basket analysis.</a:t>
            </a:r>
          </a:p>
          <a:p>
            <a:pPr>
              <a:lnSpc>
                <a:spcPct val="150000"/>
              </a:lnSpc>
            </a:pP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2346318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2693C-7F00-FB4C-7475-E4BCA6AE0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b="1" dirty="0">
                <a:solidFill>
                  <a:srgbClr val="0070C0"/>
                </a:solidFill>
              </a:rPr>
              <a:t>                                  Technical Soundness of the Project</a:t>
            </a:r>
            <a:endParaRPr lang="en-GB" sz="28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B4B76EF-BF45-AF57-3A06-AC45247A1B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7453659"/>
              </p:ext>
            </p:extLst>
          </p:nvPr>
        </p:nvGraphicFramePr>
        <p:xfrm>
          <a:off x="838200" y="1828799"/>
          <a:ext cx="10515600" cy="42304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6413851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228929972"/>
                    </a:ext>
                  </a:extLst>
                </a:gridCol>
              </a:tblGrid>
              <a:tr h="604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                                        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                           Technology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3860672"/>
                  </a:ext>
                </a:extLst>
              </a:tr>
              <a:tr h="604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Programming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Python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5865977"/>
                  </a:ext>
                </a:extLst>
              </a:tr>
              <a:tr h="604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Data 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Pandas, NumPy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5834197"/>
                  </a:ext>
                </a:extLst>
              </a:tr>
              <a:tr h="604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Visualization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Matplotlib / Seaborn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9515442"/>
                  </a:ext>
                </a:extLst>
              </a:tr>
              <a:tr h="604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Machine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Scikit-learn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7324143"/>
                  </a:ext>
                </a:extLst>
              </a:tr>
              <a:tr h="604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Development Environment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Jupyter Notebook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9311625"/>
                  </a:ext>
                </a:extLst>
              </a:tr>
              <a:tr h="604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Final Presentation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Dashboard &amp; Reports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77714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2416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BD271-461E-5B64-640D-7B5242C27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8143"/>
            <a:ext cx="10515600" cy="1232545"/>
          </a:xfrm>
        </p:spPr>
        <p:txBody>
          <a:bodyPr>
            <a:normAutofit fontScale="90000"/>
          </a:bodyPr>
          <a:lstStyle/>
          <a:p>
            <a:r>
              <a:rPr lang="en-GB" sz="2800" b="1" dirty="0">
                <a:solidFill>
                  <a:srgbClr val="0066B3"/>
                </a:solidFill>
                <a:latin typeface="Aptos"/>
              </a:rPr>
              <a:t>                                           Feasibility and Project Plan</a:t>
            </a:r>
            <a:br>
              <a:rPr lang="en-GB" sz="2800" b="1" dirty="0">
                <a:solidFill>
                  <a:srgbClr val="0066B3"/>
                </a:solidFill>
                <a:latin typeface="Aptos"/>
              </a:rPr>
            </a:br>
            <a:br>
              <a:rPr lang="en-GB" sz="2800" b="1" dirty="0">
                <a:solidFill>
                  <a:srgbClr val="0066B3"/>
                </a:solidFill>
                <a:latin typeface="Aptos"/>
              </a:rPr>
            </a:br>
            <a:r>
              <a:rPr lang="en-GB" sz="2800" b="1" dirty="0">
                <a:solidFill>
                  <a:srgbClr val="0066B3"/>
                </a:solidFill>
                <a:latin typeface="Aptos"/>
              </a:rPr>
              <a:t> </a:t>
            </a:r>
            <a:r>
              <a:rPr lang="en-GB" sz="2000" dirty="0">
                <a:solidFill>
                  <a:srgbClr val="282D34"/>
                </a:solidFill>
                <a:latin typeface="Aptos"/>
              </a:rPr>
              <a:t>Tools: Python, Pandas, NumPy, Matplotlib/Seaborn, scikit-learn and Jupyter Notebook.</a:t>
            </a:r>
            <a:br>
              <a:rPr lang="en-GB" sz="2800" dirty="0">
                <a:solidFill>
                  <a:srgbClr val="282D34"/>
                </a:solidFill>
                <a:latin typeface="Aptos"/>
              </a:rPr>
            </a:b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63084-8785-D922-6E65-837689E08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1255829" cy="49169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b="1" dirty="0">
                <a:solidFill>
                  <a:srgbClr val="0066B3"/>
                </a:solidFill>
              </a:rPr>
              <a:t>                                                                                   Planned phases and timeline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800" b="1" dirty="0">
                <a:solidFill>
                  <a:srgbClr val="0066B3"/>
                </a:solidFill>
              </a:rPr>
              <a:t>PHASE                                                                1          2           3             4            5              6             7          8             9           10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800" b="1" dirty="0">
                <a:solidFill>
                  <a:srgbClr val="282D34"/>
                </a:solidFill>
              </a:rPr>
              <a:t>Understand data                           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800" b="1" dirty="0">
                <a:solidFill>
                  <a:srgbClr val="282D34"/>
                </a:solidFill>
              </a:rPr>
              <a:t>Clean &amp; explore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800" b="1" dirty="0">
                <a:solidFill>
                  <a:srgbClr val="282D34"/>
                </a:solidFill>
              </a:rPr>
              <a:t>Customer + product analysis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800" b="1" dirty="0">
                <a:solidFill>
                  <a:srgbClr val="282D34"/>
                </a:solidFill>
              </a:rPr>
              <a:t>Market basket analysis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800" b="1" dirty="0">
                <a:solidFill>
                  <a:srgbClr val="282D34"/>
                </a:solidFill>
              </a:rPr>
              <a:t>Sales forecasting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800" b="1" dirty="0">
                <a:solidFill>
                  <a:srgbClr val="282D34"/>
                </a:solidFill>
              </a:rPr>
              <a:t>Dashboard &amp; report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600" b="1" dirty="0">
                <a:solidFill>
                  <a:srgbClr val="C0232F"/>
                </a:solidFill>
              </a:rPr>
              <a:t>Expected outputs: cleaned dataset • customer groups • product combinations • sales forecast charts/dashboard</a:t>
            </a:r>
          </a:p>
          <a:p>
            <a:pPr marL="0" indent="0">
              <a:lnSpc>
                <a:spcPct val="150000"/>
              </a:lnSpc>
              <a:buNone/>
            </a:pPr>
            <a:endParaRPr lang="en-GB" sz="1800" b="1" dirty="0">
              <a:solidFill>
                <a:srgbClr val="282D34"/>
              </a:solidFill>
            </a:endParaRPr>
          </a:p>
          <a:p>
            <a:pPr marL="0" indent="0">
              <a:buNone/>
            </a:pPr>
            <a:endParaRPr lang="en-GB" sz="1800" b="1" dirty="0">
              <a:solidFill>
                <a:srgbClr val="0066B3"/>
              </a:solidFill>
            </a:endParaRPr>
          </a:p>
        </p:txBody>
      </p:sp>
      <p:sp>
        <p:nvSpPr>
          <p:cNvPr id="5" name="Rounded Rectangle 18">
            <a:extLst>
              <a:ext uri="{FF2B5EF4-FFF2-40B4-BE49-F238E27FC236}">
                <a16:creationId xmlns:a16="http://schemas.microsoft.com/office/drawing/2014/main" id="{A24E6069-7BCD-61CC-8594-1FB16B4C8E65}"/>
              </a:ext>
            </a:extLst>
          </p:cNvPr>
          <p:cNvSpPr/>
          <p:nvPr/>
        </p:nvSpPr>
        <p:spPr>
          <a:xfrm>
            <a:off x="4255008" y="2871597"/>
            <a:ext cx="713232" cy="256032"/>
          </a:xfrm>
          <a:prstGeom prst="roundRect">
            <a:avLst/>
          </a:prstGeom>
          <a:solidFill>
            <a:srgbClr val="006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20">
            <a:extLst>
              <a:ext uri="{FF2B5EF4-FFF2-40B4-BE49-F238E27FC236}">
                <a16:creationId xmlns:a16="http://schemas.microsoft.com/office/drawing/2014/main" id="{BA44CE53-6F2F-051B-60CB-6E05D0840F9F}"/>
              </a:ext>
            </a:extLst>
          </p:cNvPr>
          <p:cNvSpPr/>
          <p:nvPr/>
        </p:nvSpPr>
        <p:spPr>
          <a:xfrm>
            <a:off x="5029635" y="3298371"/>
            <a:ext cx="1251422" cy="258645"/>
          </a:xfrm>
          <a:prstGeom prst="roundRect">
            <a:avLst/>
          </a:prstGeom>
          <a:solidFill>
            <a:srgbClr val="006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22">
            <a:extLst>
              <a:ext uri="{FF2B5EF4-FFF2-40B4-BE49-F238E27FC236}">
                <a16:creationId xmlns:a16="http://schemas.microsoft.com/office/drawing/2014/main" id="{832EC0C6-4EDA-BB9D-50F4-9B0AB006D469}"/>
              </a:ext>
            </a:extLst>
          </p:cNvPr>
          <p:cNvSpPr/>
          <p:nvPr/>
        </p:nvSpPr>
        <p:spPr>
          <a:xfrm>
            <a:off x="6411686" y="3831771"/>
            <a:ext cx="1110778" cy="297539"/>
          </a:xfrm>
          <a:prstGeom prst="roundRect">
            <a:avLst/>
          </a:prstGeom>
          <a:solidFill>
            <a:srgbClr val="006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22">
            <a:extLst>
              <a:ext uri="{FF2B5EF4-FFF2-40B4-BE49-F238E27FC236}">
                <a16:creationId xmlns:a16="http://schemas.microsoft.com/office/drawing/2014/main" id="{77082167-AB1A-0419-7669-FAA6393278C4}"/>
              </a:ext>
            </a:extLst>
          </p:cNvPr>
          <p:cNvSpPr/>
          <p:nvPr/>
        </p:nvSpPr>
        <p:spPr>
          <a:xfrm>
            <a:off x="7696200" y="4376057"/>
            <a:ext cx="653143" cy="285432"/>
          </a:xfrm>
          <a:prstGeom prst="roundRect">
            <a:avLst/>
          </a:prstGeom>
          <a:solidFill>
            <a:srgbClr val="006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26">
            <a:extLst>
              <a:ext uri="{FF2B5EF4-FFF2-40B4-BE49-F238E27FC236}">
                <a16:creationId xmlns:a16="http://schemas.microsoft.com/office/drawing/2014/main" id="{A4BEBB94-E49E-119A-1018-8DC1BFECE6ED}"/>
              </a:ext>
            </a:extLst>
          </p:cNvPr>
          <p:cNvSpPr/>
          <p:nvPr/>
        </p:nvSpPr>
        <p:spPr>
          <a:xfrm>
            <a:off x="8882742" y="4931229"/>
            <a:ext cx="1186979" cy="308918"/>
          </a:xfrm>
          <a:prstGeom prst="roundRect">
            <a:avLst/>
          </a:prstGeom>
          <a:solidFill>
            <a:srgbClr val="006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28">
            <a:extLst>
              <a:ext uri="{FF2B5EF4-FFF2-40B4-BE49-F238E27FC236}">
                <a16:creationId xmlns:a16="http://schemas.microsoft.com/office/drawing/2014/main" id="{005F3458-3D71-FA4E-7EBC-4BB1BB573E4C}"/>
              </a:ext>
            </a:extLst>
          </p:cNvPr>
          <p:cNvSpPr/>
          <p:nvPr/>
        </p:nvSpPr>
        <p:spPr>
          <a:xfrm>
            <a:off x="10174224" y="5291210"/>
            <a:ext cx="1179576" cy="307939"/>
          </a:xfrm>
          <a:prstGeom prst="roundRect">
            <a:avLst/>
          </a:prstGeom>
          <a:solidFill>
            <a:srgbClr val="006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290128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6C679-C991-A470-0497-29F1E6225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9444"/>
          </a:xfrm>
        </p:spPr>
        <p:txBody>
          <a:bodyPr>
            <a:normAutofit/>
          </a:bodyPr>
          <a:lstStyle/>
          <a:p>
            <a:r>
              <a:rPr lang="en-GB" sz="2800" b="1" dirty="0">
                <a:solidFill>
                  <a:srgbClr val="0070C0"/>
                </a:solidFill>
              </a:rPr>
              <a:t>                                              Conclusion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63843-C48A-8F6E-F0CC-AEAA370A2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1856"/>
            <a:ext cx="10515600" cy="496510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1800" b="1" dirty="0"/>
              <a:t>Conclusion:  </a:t>
            </a:r>
            <a:r>
              <a:rPr lang="en-GB" sz="1800" dirty="0" err="1"/>
              <a:t>RetailIQ</a:t>
            </a:r>
            <a:r>
              <a:rPr lang="en-GB" sz="1800" dirty="0"/>
              <a:t> provides an integrated approach to e-commerce analytics by connecting:</a:t>
            </a:r>
          </a:p>
          <a:p>
            <a:pPr>
              <a:lnSpc>
                <a:spcPct val="150000"/>
              </a:lnSpc>
            </a:pPr>
            <a:r>
              <a:rPr lang="en-GB" sz="1800" b="1" dirty="0"/>
              <a:t>Data Cleaning + EDA + RFM + Market Basket Analysis + Forecasting</a:t>
            </a:r>
            <a:endParaRPr lang="en-GB" sz="1800" dirty="0"/>
          </a:p>
          <a:p>
            <a:pPr>
              <a:lnSpc>
                <a:spcPct val="150000"/>
              </a:lnSpc>
            </a:pPr>
            <a:r>
              <a:rPr lang="en-GB" sz="1800" dirty="0"/>
              <a:t>The project aims to transform raw e-commerce data into understandable customer, product, and sales insights.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800" b="1" dirty="0"/>
              <a:t>Future Work</a:t>
            </a:r>
          </a:p>
          <a:p>
            <a:pPr lvl="0">
              <a:lnSpc>
                <a:spcPct val="150000"/>
              </a:lnSpc>
            </a:pPr>
            <a:r>
              <a:rPr lang="en-GB" sz="1800" dirty="0"/>
              <a:t>Improve customer segmentation. </a:t>
            </a:r>
          </a:p>
          <a:p>
            <a:pPr lvl="0">
              <a:lnSpc>
                <a:spcPct val="150000"/>
              </a:lnSpc>
            </a:pPr>
            <a:r>
              <a:rPr lang="en-GB" sz="1800" dirty="0"/>
              <a:t>Experiment with forecasting approaches. </a:t>
            </a:r>
          </a:p>
          <a:p>
            <a:pPr lvl="0">
              <a:lnSpc>
                <a:spcPct val="150000"/>
              </a:lnSpc>
            </a:pPr>
            <a:r>
              <a:rPr lang="en-GB" sz="1800" dirty="0"/>
              <a:t>Improve dashboard visualization. </a:t>
            </a:r>
          </a:p>
          <a:p>
            <a:pPr lvl="0">
              <a:lnSpc>
                <a:spcPct val="150000"/>
              </a:lnSpc>
            </a:pPr>
            <a:r>
              <a:rPr lang="en-GB" sz="1800" dirty="0"/>
              <a:t>Extend analysis with additional e-commerce data. </a:t>
            </a:r>
          </a:p>
          <a:p>
            <a:pPr lvl="0">
              <a:lnSpc>
                <a:spcPct val="150000"/>
              </a:lnSpc>
            </a:pPr>
            <a:r>
              <a:rPr lang="en-GB" sz="1800" dirty="0"/>
              <a:t>Provide more actionable business summaries. </a:t>
            </a:r>
          </a:p>
          <a:p>
            <a:pPr>
              <a:lnSpc>
                <a:spcPct val="150000"/>
              </a:lnSpc>
            </a:pP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2178384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859</Words>
  <Application>Microsoft Office PowerPoint</Application>
  <PresentationFormat>Widescreen</PresentationFormat>
  <Paragraphs>188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                                                          Objectives</vt:lpstr>
      <vt:lpstr>PowerPoint Presentation</vt:lpstr>
      <vt:lpstr>                                   Problem Gap Identification</vt:lpstr>
      <vt:lpstr>                         Innovation, Creativity, and Novelty </vt:lpstr>
      <vt:lpstr>                                                          Project Design</vt:lpstr>
      <vt:lpstr>                                                            Architecture</vt:lpstr>
      <vt:lpstr>                                                        Methodology</vt:lpstr>
      <vt:lpstr>                              Technical Soundness of the Project</vt:lpstr>
      <vt:lpstr>                                  Technical Soundness of the Project</vt:lpstr>
      <vt:lpstr>                                           Feasibility and Project Plan   Tools: Python, Pandas, NumPy, Matplotlib/Seaborn, scikit-learn and Jupyter Notebook. </vt:lpstr>
      <vt:lpstr>                                              Conclusion &amp;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RetailIQ — Template Matched Project Review 1</dc:title>
  <dc:subject>Simplified e-commerce data science project review</dc:subject>
  <dc:creator>Team 15, Section 4</dc:creator>
  <cp:lastModifiedBy>Tanvi Bandaru</cp:lastModifiedBy>
  <cp:revision>38</cp:revision>
  <dcterms:created xsi:type="dcterms:W3CDTF">2026-08-08T06:33:56Z</dcterms:created>
  <dcterms:modified xsi:type="dcterms:W3CDTF">2026-09-21T03:13:14Z</dcterms:modified>
</cp:coreProperties>
</file>